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Plus Jakarta Sans" panose="020B0604020202020204" charset="0"/>
      <p:regular r:id="rId19"/>
      <p:bold r:id="rId20"/>
      <p:italic r:id="rId21"/>
      <p:boldItalic r:id="rId22"/>
    </p:embeddedFont>
    <p:embeddedFont>
      <p:font typeface="Space Grotesk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9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591942"/>
            <a:ext cx="6162675" cy="504825"/>
          </a:xfrm>
          <a:prstGeom prst="roundRect">
            <a:avLst>
              <a:gd name="adj" fmla="val 2264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474910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76123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2294632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Analyse des Primes de Santé &amp; Pilotage Data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624262"/>
            <a:ext cx="7524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Exploration du dataset assurés, identification des facteurs de risque et restitution interactive via Streamlit.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153775" y="675288"/>
            <a:ext cx="71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01 / 11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66825" y="4744342"/>
            <a:ext cx="6548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Streamlit Live : </a:t>
            </a:r>
            <a:r>
              <a:rPr lang="en-US" sz="1200" b="1" i="0" u="none" strike="noStrike" cap="non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aegis-insurance-zohair-brice.streamlit.app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28700" y="1804094"/>
            <a:ext cx="44648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AEGIS INSURANCE - ZOHAIR ET BRICE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09600" y="2405062"/>
            <a:ext cx="5334000" cy="295275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248400" y="2405062"/>
            <a:ext cx="5334000" cy="295275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772325" y="4110025"/>
            <a:ext cx="3010500" cy="285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329487" y="4110037"/>
            <a:ext cx="3171825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27574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4400" y="27574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4200" y="296703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00" y="296703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02 / 11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09600" y="457200"/>
            <a:ext cx="7200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L'Équipe du Projet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876300"/>
            <a:ext cx="6858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Les cerveaux (et victimes de Streamlit) derrière l'analyse d'assurance.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806541" y="3709987"/>
            <a:ext cx="94011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Brice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695450" y="4167187"/>
            <a:ext cx="3162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Meta </a:t>
            </a: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Dompteur de Code &amp; Sorcier Streamlit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83381" y="4548187"/>
            <a:ext cx="57864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Spécialiste du débogage nocturne, nettoyeur de valeurs manquantes et négociateur officiel auprès de l'algorithme.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810501" y="3709975"/>
            <a:ext cx="21441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 Grand </a:t>
            </a:r>
            <a:r>
              <a:rPr lang="en-US" sz="19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Zohair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66359" y="4167187"/>
            <a:ext cx="369808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Gourou de la Surtarification &amp; Chasseur d'IMC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022181" y="4548187"/>
            <a:ext cx="57864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Expert incontesté de la taxe fumeur, traducteur de données complexes en graphiques colorés et gardien des primes.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09600" y="2919412"/>
            <a:ext cx="26003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400425" y="2919412"/>
            <a:ext cx="26003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191250" y="2919412"/>
            <a:ext cx="26003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982075" y="2919412"/>
            <a:ext cx="26003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09600" y="291941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400425" y="291941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191250" y="291941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982075" y="291941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03 / 11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457200"/>
            <a:ext cx="81260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Feuille de Route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09600" y="876300"/>
            <a:ext cx="77390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présentation de la démarche analytique et de la restitution interactive.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" y="3224212"/>
            <a:ext cx="26789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" y="368141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&amp; Nettoyage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38200" y="3976687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Contrôle des nulls, déduplication et structuration du dataset de 1 337 lignes.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629025" y="3224212"/>
            <a:ext cx="26789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3629025" y="368141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Démographie Assurés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629025" y="3976687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 des distributions selon l'âge, le genre, la région et le nombre d'enfants.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19850" y="3224212"/>
            <a:ext cx="26789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419850" y="368141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Risques &amp; Facteurs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419850" y="3976687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Étude de l'IMC, croisements à risque et distribution des dépenses médicales.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210675" y="3224212"/>
            <a:ext cx="26789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210675" y="3681412"/>
            <a:ext cx="281285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&amp; Décisions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210675" y="3976687"/>
            <a:ext cx="2238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Démonstration du dashboard Streamlit et recommandations stratégiques.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609600" y="2828925"/>
            <a:ext cx="3505200" cy="210502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343400" y="2828925"/>
            <a:ext cx="3505200" cy="210502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077200" y="2828925"/>
            <a:ext cx="3505200" cy="210502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1527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8200" y="31527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31527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04 / 11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09600" y="457200"/>
            <a:ext cx="685085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Qualité &amp; Préparation des Données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09600" y="876300"/>
            <a:ext cx="6524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 de l'intégrité du dataset avant modélisation statistique.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14400" y="3590925"/>
            <a:ext cx="36195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F6F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null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14400" y="4191000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Données 100% complètes sur les 7 variables auditées.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648200" y="3590925"/>
            <a:ext cx="36195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doublon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648200" y="4191000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Ligne #581 supprimée pour garantir l'indépendance.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382000" y="3590925"/>
            <a:ext cx="36195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1337 × 7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82000" y="4191000"/>
            <a:ext cx="29908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 propre prête pour l'analyse visuelle.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257300" y="3133725"/>
            <a:ext cx="268783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Valeurs Manquantes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019675" y="3133725"/>
            <a:ext cx="19002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Déduplication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696325" y="3133725"/>
            <a:ext cx="252531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Dimensions Finales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609600" y="2862262"/>
            <a:ext cx="2571750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409950" y="2862262"/>
            <a:ext cx="2571750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210300" y="2862262"/>
            <a:ext cx="2571750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9010650" y="2862262"/>
            <a:ext cx="2571750" cy="2038350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300" y="31670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6650" y="316706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316706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77350" y="31670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05 / 11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09600" y="457200"/>
            <a:ext cx="743842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Structure Démographique des Assurés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09600" y="876300"/>
            <a:ext cx="70842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Statistiques descriptives du dataset (df.describe() et histogrammes du notebook).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76300" y="3128962"/>
            <a:ext cx="267533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Âge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76300" y="3519487"/>
            <a:ext cx="254793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39,2 ans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76300" y="3976687"/>
            <a:ext cx="21336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18 à 64 ans, avec un pic autour de 18 et 19 ans.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3676650" y="3128962"/>
            <a:ext cx="267533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Genre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3676650" y="3519487"/>
            <a:ext cx="254793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 / F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3676650" y="3976687"/>
            <a:ext cx="21336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Variable encodée en 0/1 (sex_male) pour la modélisation.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77000" y="3128962"/>
            <a:ext cx="267533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Enfants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477000" y="3519487"/>
            <a:ext cx="254793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1,09 en moy.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477000" y="3976687"/>
            <a:ext cx="21336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majorité des assurés n'a aucun enfant (de 0 à 5).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277350" y="3128962"/>
            <a:ext cx="267533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Régions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277350" y="3519487"/>
            <a:ext cx="254793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zones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9277350" y="3976687"/>
            <a:ext cx="21336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Northeast sert de référence après l'encodage One-Hot.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/>
          <p:nvPr/>
        </p:nvSpPr>
        <p:spPr>
          <a:xfrm>
            <a:off x="609600" y="2500312"/>
            <a:ext cx="4904482" cy="276225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818882" y="2500312"/>
            <a:ext cx="5763517" cy="2762250"/>
          </a:xfrm>
          <a:prstGeom prst="roundRect">
            <a:avLst>
              <a:gd name="adj" fmla="val 5517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123682" y="4452937"/>
            <a:ext cx="5153917" cy="504825"/>
          </a:xfrm>
          <a:prstGeom prst="roundRect">
            <a:avLst>
              <a:gd name="adj" fmla="val 18867"/>
            </a:avLst>
          </a:prstGeom>
          <a:solidFill>
            <a:srgbClr val="2896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4182" y="46339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06 / 11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09600" y="457200"/>
            <a:ext cx="88636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Analyse de l'IMC (BMI) &amp; Risques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09600" y="876300"/>
            <a:ext cx="84415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Moyenne globale de 30,67 et corrélation faible avec les frais (0,20).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914400" y="2805112"/>
            <a:ext cx="563703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Distribution IMC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123682" y="2805112"/>
            <a:ext cx="606831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IMC × Tabac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123682" y="3233737"/>
            <a:ext cx="524916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0F9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Non-fumeurs : frais bas quel que soit l'IMC. Fumeurs : deux groupes, IMC &lt; 30 et IMC ≥ 30 (seuil OMS de l'obésité).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14400" y="3262312"/>
            <a:ext cx="53686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 / Max 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16,0 à 53,1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14400" y="3633787"/>
            <a:ext cx="53686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Médiane (Q2) 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30,4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14400" y="4005262"/>
            <a:ext cx="53686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Troisième Quartile (Q3) 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34,7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314182" y="4605337"/>
            <a:ext cx="587781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Visualisation interactive disponible sur Streamlit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609600" y="2864346"/>
            <a:ext cx="3492549" cy="2034182"/>
          </a:xfrm>
          <a:prstGeom prst="roundRect">
            <a:avLst>
              <a:gd name="adj" fmla="val 749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330749" y="2864346"/>
            <a:ext cx="3492549" cy="2034182"/>
          </a:xfrm>
          <a:prstGeom prst="roundRect">
            <a:avLst>
              <a:gd name="adj" fmla="val 749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8051899" y="2864346"/>
            <a:ext cx="3530649" cy="2034182"/>
          </a:xfrm>
          <a:prstGeom prst="roundRect">
            <a:avLst>
              <a:gd name="adj" fmla="val 7491"/>
            </a:avLst>
          </a:prstGeom>
          <a:solidFill>
            <a:srgbClr val="FFFFFF"/>
          </a:solidFill>
          <a:ln w="19050" cap="flat" cmpd="sng">
            <a:solidFill>
              <a:srgbClr val="B4530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914400" y="3150096"/>
            <a:ext cx="866775" cy="247650"/>
          </a:xfrm>
          <a:prstGeom prst="roundRect">
            <a:avLst>
              <a:gd name="adj" fmla="val 23076"/>
            </a:avLst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635549" y="3150096"/>
            <a:ext cx="885825" cy="247650"/>
          </a:xfrm>
          <a:prstGeom prst="roundRect">
            <a:avLst>
              <a:gd name="adj" fmla="val 23076"/>
            </a:avLst>
          </a:prstGeom>
          <a:solidFill>
            <a:srgbClr val="FFF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8375749" y="3169146"/>
            <a:ext cx="1438275" cy="247650"/>
          </a:xfrm>
          <a:prstGeom prst="roundRect">
            <a:avLst>
              <a:gd name="adj" fmla="val 23076"/>
            </a:avLst>
          </a:prstGeom>
          <a:solidFill>
            <a:srgbClr val="FFF7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11134725" y="676275"/>
            <a:ext cx="7334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07 / 11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09600" y="457200"/>
            <a:ext cx="725090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Interaction Croisée : IMC × Tabagisme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876300"/>
            <a:ext cx="6905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 du nuage de points IMC × frais, coloré par statut fumeur.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028700" y="3188196"/>
            <a:ext cx="733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F6F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GROUPE 1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14400" y="3521571"/>
            <a:ext cx="37838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Non-Fumeurs (Tout IMC)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914400" y="3873996"/>
            <a:ext cx="297819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Frais globalement bas et stables, quel que soit l'IMC.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749849" y="3188196"/>
            <a:ext cx="7524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GROUPE 2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4635549" y="3521571"/>
            <a:ext cx="37838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Fumeurs &amp; IMC &lt; 30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635549" y="3873996"/>
            <a:ext cx="29781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Premier groupe de fumeurs : frais intermédiaires.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490049" y="3207246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GROUPE 3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375749" y="3540621"/>
            <a:ext cx="378387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Fumeurs &amp; IMC ≥ 30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375749" y="3902571"/>
            <a:ext cx="2978199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 groupe de fumeurs : les frais les plus élevés du nuage de points.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/>
          <p:nvPr/>
        </p:nvSpPr>
        <p:spPr>
          <a:xfrm>
            <a:off x="609600" y="2809875"/>
            <a:ext cx="53340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248400" y="2809875"/>
            <a:ext cx="53340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08 / 11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09600" y="457200"/>
            <a:ext cx="726340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Distribution des Dépenses Santé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09600" y="876300"/>
            <a:ext cx="69175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 asymétrie à droite marquée par un écart type important (12 110 $).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14400" y="3224212"/>
            <a:ext cx="5905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MÉDIANE (Q2)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914400" y="3500437"/>
            <a:ext cx="59055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9 382 $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914400" y="4319587"/>
            <a:ext cx="5905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50% de la population dépense moins de 9 382 $ par an.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553200" y="3114675"/>
            <a:ext cx="56388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MOYENNE GLOBALE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553200" y="3390900"/>
            <a:ext cx="56388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13 270 $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553200" y="4210050"/>
            <a:ext cx="4819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Supérieure à la médiane : distribution asymétrique à droite (Max : 63 770 $).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/>
        </p:nvSpPr>
        <p:spPr>
          <a:xfrm>
            <a:off x="609600" y="2486025"/>
            <a:ext cx="10972800" cy="2752725"/>
          </a:xfrm>
          <a:prstGeom prst="roundRect">
            <a:avLst>
              <a:gd name="adj" fmla="val 692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962025" y="4181475"/>
            <a:ext cx="10267950" cy="704850"/>
          </a:xfrm>
          <a:prstGeom prst="roundRect">
            <a:avLst>
              <a:gd name="adj" fmla="val 16216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962025" y="2838450"/>
            <a:ext cx="32702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460825" y="2838450"/>
            <a:ext cx="32702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959625" y="2838450"/>
            <a:ext cx="327020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8934450" y="4371975"/>
            <a:ext cx="2105025" cy="323850"/>
          </a:xfrm>
          <a:prstGeom prst="roundRect">
            <a:avLst>
              <a:gd name="adj" fmla="val 23529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29900" y="62388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44624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30670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1325" y="306705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0125" y="30670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609600" y="457200"/>
            <a:ext cx="81260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Application Interactive Streamlit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09600" y="876300"/>
            <a:ext cx="77390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Plateforme dédiée au pilotage et à la visualisation dynamique des graphiques.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1125200" y="676275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09 / 11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1152525" y="4424362"/>
            <a:ext cx="58935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https://aegis-insurance-zohair-brice.streamlit.app/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124950" y="4448175"/>
            <a:ext cx="18192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ACCÉDER AU DASHBOARD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152525" y="3028950"/>
            <a:ext cx="3611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Filtre par Région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152525" y="3324225"/>
            <a:ext cx="2984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 la page Facteurs de risque (graphiques IMC et âge).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4651325" y="3028950"/>
            <a:ext cx="3611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Graphiques Interactifs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651325" y="3324225"/>
            <a:ext cx="2984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Survol, zoom et sélection par légende (Plotly).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8150125" y="3028950"/>
            <a:ext cx="3611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Simulateur de Frais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150125" y="3324225"/>
            <a:ext cx="2984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Estimation du modèle, position du client et scénarios « Et si… ? ».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/>
          <p:nvPr/>
        </p:nvSpPr>
        <p:spPr>
          <a:xfrm>
            <a:off x="609600" y="2347912"/>
            <a:ext cx="1097280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609600" y="3433762"/>
            <a:ext cx="1097280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609600" y="4519612"/>
            <a:ext cx="1097280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09600" y="2347912"/>
            <a:ext cx="57150" cy="895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609600" y="3433762"/>
            <a:ext cx="57150" cy="895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09600" y="4519612"/>
            <a:ext cx="57150" cy="8953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11153775" y="676275"/>
            <a:ext cx="714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10 / 11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609600" y="457200"/>
            <a:ext cx="722590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Recommandations Stratégiques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609600" y="876300"/>
            <a:ext cx="68818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Orientations actuarielles pour l'ajustement des barèmes d'assurance.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933450" y="2538412"/>
            <a:ext cx="11258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Surtarification Ciblée du Tabagisme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933450" y="2833687"/>
            <a:ext cx="112585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selon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paliers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progressifs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basés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l'IMC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85" name="Google Shape;285;p22"/>
          <p:cNvSpPr txBox="1"/>
          <p:nvPr/>
        </p:nvSpPr>
        <p:spPr>
          <a:xfrm>
            <a:off x="933450" y="3624262"/>
            <a:ext cx="11258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Programmes de Prévention Précoce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933450" y="3919537"/>
            <a:ext cx="112585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Proposer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accompagnement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anti-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tabac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et nutrition pour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réduire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.</a:t>
            </a:r>
            <a:endParaRPr dirty="0"/>
          </a:p>
        </p:txBody>
      </p:sp>
      <p:sp>
        <p:nvSpPr>
          <p:cNvPr id="287" name="Google Shape;287;p22"/>
          <p:cNvSpPr txBox="1"/>
          <p:nvPr/>
        </p:nvSpPr>
        <p:spPr>
          <a:xfrm>
            <a:off x="933450" y="4710112"/>
            <a:ext cx="11258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l'App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opérationnel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dirty="0"/>
          </a:p>
        </p:txBody>
      </p:sp>
      <p:sp>
        <p:nvSpPr>
          <p:cNvPr id="288" name="Google Shape;288;p22"/>
          <p:cNvSpPr txBox="1"/>
          <p:nvPr/>
        </p:nvSpPr>
        <p:spPr>
          <a:xfrm>
            <a:off x="933450" y="5005387"/>
            <a:ext cx="112585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Utiliser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simulateur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pour les études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souscription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et les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présentations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clients.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3700462" y="4062412"/>
            <a:ext cx="4791075" cy="638175"/>
          </a:xfrm>
          <a:prstGeom prst="roundRect">
            <a:avLst>
              <a:gd name="adj" fmla="val 23880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9300" y="165258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11039475" y="381000"/>
            <a:ext cx="685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 / 11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2420540" y="2414587"/>
            <a:ext cx="73509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Merci de votre attention !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1928812" y="3148012"/>
            <a:ext cx="8334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Avez-vous des questions sur l'analyse de données ou l'utilisation de l'application Streamlit ?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4625578" y="5005387"/>
            <a:ext cx="29408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AEGIS Insurance — Zohair &amp; Brice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3542109" y="4262437"/>
            <a:ext cx="51077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aegis-insurance-zohair-brice.streamlit.app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80EAD-E750-1742-53E2-8D502B2FD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6E8CB9-510E-8310-C57D-9D37E6F157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DD9157-20FB-EC90-1871-B08B7D466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4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0489551-31E2-2B47-25BF-1A0AFE4BB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B6AFD-B368-FEC8-2296-BEC226A20B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75A289-98C5-6821-0A2B-47007C339F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6F2256-4315-CCB9-C82D-C92EBF314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9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ED6F5-5EFB-DB8B-9358-BAEB356CD8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F17831-84D3-AC95-31FB-D0D030B687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A62A95-A392-9E7B-8B26-CB5F7FE4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69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400B3-77F7-DF16-B8F7-19DB4F25F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E5F564-A3EA-33AF-5816-F21017F747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2686AA-CC19-A104-3251-8DEB4151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96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729</Words>
  <Application>Microsoft Office PowerPoint</Application>
  <PresentationFormat>Grand écran</PresentationFormat>
  <Paragraphs>112</Paragraphs>
  <Slides>16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Space Grotesk</vt:lpstr>
      <vt:lpstr>Plus Jakarta Sans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Insurance - Présentation</dc:title>
  <dc:creator>Zohair</dc:creator>
  <cp:lastModifiedBy>Zohair NAZHAOUI</cp:lastModifiedBy>
  <cp:revision>2</cp:revision>
  <dcterms:modified xsi:type="dcterms:W3CDTF">2026-09-28T11:59:52Z</dcterms:modified>
</cp:coreProperties>
</file>